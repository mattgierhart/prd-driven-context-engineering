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731520"/>
            <a:ext cx="731520" cy="38100"/>
          </a:xfrm>
          <a:prstGeom prst="rect">
            <a:avLst/>
          </a:prstGeom>
          <a:solidFill>
            <a:srgbClr val="B84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0">
                <a:solidFill>
                  <a:srgbClr val="2C2825"/>
                </a:solidFill>
                <a:latin typeface="Georgia"/>
              </a:defRPr>
            </a:pPr>
            <a:r>
              <a:t>PRD-Led Context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8736C"/>
                </a:solidFill>
                <a:latin typeface="Arial"/>
              </a:defRPr>
            </a:pPr>
            <a:r>
              <a:t>A methodology for AI-assisted product development that eliminates context loss and creates living documentation.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8736C"/>
                </a:solidFill>
                <a:latin typeface="Arial"/>
              </a:defRPr>
            </a:pPr>
            <a:r>
              <a:t>METHODOLOGY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43891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8736C"/>
                </a:solidFill>
                <a:latin typeface="Arial"/>
              </a:defRPr>
            </a:pPr>
            <a:r>
              <a:t>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8472B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2C2825"/>
                </a:solidFill>
                <a:latin typeface="Georgia"/>
              </a:defRPr>
            </a:pPr>
            <a:r>
              <a:t>The Challenge of AI-Assisted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8472B"/>
                </a:solidFill>
                <a:latin typeface="Arial"/>
              </a:defRPr>
            </a:pPr>
            <a:r>
              <a:t>PROBLEMS SOLVED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3840480" cy="59436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38100" cy="594360"/>
          </a:xfrm>
          <a:prstGeom prst="rect">
            <a:avLst/>
          </a:prstGeom>
          <a:solidFill>
            <a:srgbClr val="B84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36192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2825"/>
                </a:solidFill>
                <a:latin typeface="Arial"/>
              </a:defRPr>
            </a:pPr>
            <a:r>
              <a:t>Context Loss Between Sessions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8736C"/>
                </a:solidFill>
                <a:latin typeface="Arial"/>
              </a:defRPr>
            </a:pPr>
            <a:r>
              <a:t>AI assistants forget everything when conversations end.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21408"/>
            <a:ext cx="3840480" cy="59436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121408"/>
            <a:ext cx="38100" cy="594360"/>
          </a:xfrm>
          <a:prstGeom prst="rect">
            <a:avLst/>
          </a:prstGeom>
          <a:solidFill>
            <a:srgbClr val="B84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19456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2825"/>
                </a:solidFill>
                <a:latin typeface="Arial"/>
              </a:defRPr>
            </a:pPr>
            <a:r>
              <a:t>Documentation Drift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441448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8736C"/>
                </a:solidFill>
                <a:latin typeface="Arial"/>
              </a:defRPr>
            </a:pPr>
            <a:r>
              <a:t>Specs become outdated as code evolves independently.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779776"/>
            <a:ext cx="3840480" cy="59436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2779776"/>
            <a:ext cx="38100" cy="594360"/>
          </a:xfrm>
          <a:prstGeom prst="rect">
            <a:avLst/>
          </a:prstGeom>
          <a:solidFill>
            <a:srgbClr val="B84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852928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2825"/>
                </a:solidFill>
                <a:latin typeface="Arial"/>
              </a:defRPr>
            </a:pPr>
            <a:r>
              <a:t>Coordination Chaos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099816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8736C"/>
                </a:solidFill>
                <a:latin typeface="Arial"/>
              </a:defRPr>
            </a:pPr>
            <a:r>
              <a:t>Multiple AI agents work without shared understanding.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11887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2825"/>
                </a:solidFill>
                <a:latin typeface="Arial"/>
              </a:defRPr>
            </a:pPr>
            <a:r>
              <a:t>PRINCIPLES APPLIED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1463040"/>
            <a:ext cx="411480" cy="411480"/>
          </a:xfrm>
          <a:prstGeom prst="rect">
            <a:avLst/>
          </a:prstGeom>
          <a:solidFill>
            <a:srgbClr val="2C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153619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AF8F5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148132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2825"/>
                </a:solidFill>
                <a:latin typeface="Arial"/>
              </a:defRPr>
            </a:pPr>
            <a:r>
              <a:t>Evidence-Anchored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16916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8736C"/>
                </a:solidFill>
                <a:latin typeface="Arial"/>
              </a:defRPr>
            </a:pPr>
            <a:r>
              <a:t>Every decision traced to research and data.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1993392"/>
            <a:ext cx="411480" cy="411480"/>
          </a:xfrm>
          <a:prstGeom prst="rect">
            <a:avLst/>
          </a:prstGeom>
          <a:solidFill>
            <a:srgbClr val="2C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2066544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AF8F5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20116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2825"/>
                </a:solidFill>
                <a:latin typeface="Arial"/>
              </a:defRPr>
            </a:pPr>
            <a:r>
              <a:t>ID-Traceable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4920" y="222199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8736C"/>
                </a:solidFill>
                <a:latin typeface="Arial"/>
              </a:defRPr>
            </a:pPr>
            <a:r>
              <a:t>Unique identifiers connect specs to code to tests.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0" y="2523744"/>
            <a:ext cx="411480" cy="411480"/>
          </a:xfrm>
          <a:prstGeom prst="rect">
            <a:avLst/>
          </a:prstGeom>
          <a:solidFill>
            <a:srgbClr val="2C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2596896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AF8F5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74920" y="254203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2825"/>
                </a:solidFill>
                <a:latin typeface="Arial"/>
              </a:defRPr>
            </a:pPr>
            <a:r>
              <a:t>Progressive Gates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2752344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8736C"/>
                </a:solidFill>
                <a:latin typeface="Arial"/>
              </a:defRPr>
            </a:pPr>
            <a:r>
              <a:t>Structured checkpoints ensure quality at each stage.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0" y="3054096"/>
            <a:ext cx="411480" cy="411480"/>
          </a:xfrm>
          <a:prstGeom prst="rect">
            <a:avLst/>
          </a:prstGeom>
          <a:solidFill>
            <a:srgbClr val="2C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0" y="312724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AF8F5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74920" y="3072384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2825"/>
                </a:solidFill>
                <a:latin typeface="Arial"/>
              </a:defRPr>
            </a:pPr>
            <a:r>
              <a:t>Living Documentation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74920" y="3282696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8736C"/>
                </a:solidFill>
                <a:latin typeface="Arial"/>
              </a:defRPr>
            </a:pPr>
            <a:r>
              <a:t>Documents update as the product evolves.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8472B"/>
                </a:solidFill>
                <a:latin typeface="Arial"/>
              </a:defRPr>
            </a:pPr>
            <a:r>
              <a:t>METHODOLOGY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2C2825"/>
                </a:solidFill>
                <a:latin typeface="Georgia"/>
              </a:defRPr>
            </a:pPr>
            <a:r>
              <a:t>The 10-Stage Product Lifecycle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822960" cy="502920"/>
          </a:xfrm>
          <a:prstGeom prst="rect">
            <a:avLst/>
          </a:prstGeom>
          <a:solidFill>
            <a:srgbClr val="2C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261872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AF8F5"/>
                </a:solidFill>
                <a:latin typeface="Arial"/>
              </a:defRPr>
            </a:pPr>
            <a:r>
              <a:t>DISCOVERY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097280"/>
            <a:ext cx="2103120" cy="50292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1170432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2825"/>
                </a:solidFill>
                <a:latin typeface="Arial"/>
              </a:defRPr>
            </a:pPr>
            <a:r>
              <a:t>v0.1 Spark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371600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736C"/>
                </a:solidFill>
                <a:latin typeface="Arial"/>
              </a:defRPr>
            </a:pPr>
            <a:r>
              <a:t>Problem + Outcomes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1234439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4CFC7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94760" y="1097280"/>
            <a:ext cx="2103120" cy="50292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86200" y="1170432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2825"/>
                </a:solidFill>
                <a:latin typeface="Arial"/>
              </a:defRPr>
            </a:pPr>
            <a:r>
              <a:t>v0.2 Market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1371600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736C"/>
                </a:solidFill>
                <a:latin typeface="Arial"/>
              </a:defRPr>
            </a:pPr>
            <a:r>
              <a:t>ICP + Segments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234439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4CFC7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097280"/>
            <a:ext cx="2103120" cy="50292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170432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2825"/>
                </a:solidFill>
                <a:latin typeface="Arial"/>
              </a:defRPr>
            </a:pPr>
            <a:r>
              <a:t>v0.3 Commercial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371600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736C"/>
                </a:solidFill>
                <a:latin typeface="Arial"/>
              </a:defRPr>
            </a:pPr>
            <a:r>
              <a:t>Pricing + Moat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1737360"/>
            <a:ext cx="822960" cy="502920"/>
          </a:xfrm>
          <a:prstGeom prst="rect">
            <a:avLst/>
          </a:prstGeom>
          <a:solidFill>
            <a:srgbClr val="4A4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1901952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AF8F5"/>
                </a:solidFill>
                <a:latin typeface="Arial"/>
              </a:defRPr>
            </a:pPr>
            <a:r>
              <a:t>DEFINITION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0" y="1737360"/>
            <a:ext cx="2103120" cy="50292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63040" y="1810512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8736C"/>
                </a:solidFill>
                <a:latin typeface="Arial"/>
              </a:defRPr>
            </a:pPr>
            <a:r>
              <a:t>v0.4 Journeys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2011679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736C"/>
                </a:solidFill>
                <a:latin typeface="Arial"/>
              </a:defRPr>
            </a:pPr>
            <a:r>
              <a:t>User Flows + Personas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1874519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4CFC7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94760" y="1737360"/>
            <a:ext cx="2103120" cy="50292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86200" y="1810512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8736C"/>
                </a:solidFill>
                <a:latin typeface="Arial"/>
              </a:defRPr>
            </a:pPr>
            <a:r>
              <a:t>v0.5 Red 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86200" y="2011679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736C"/>
                </a:solidFill>
                <a:latin typeface="Arial"/>
              </a:defRPr>
            </a:pPr>
            <a:r>
              <a:t>Risks + Mitigations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2377439"/>
            <a:ext cx="822960" cy="502920"/>
          </a:xfrm>
          <a:prstGeom prst="rect">
            <a:avLst/>
          </a:prstGeom>
          <a:solidFill>
            <a:srgbClr val="787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" y="2542032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AF8F5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71600" y="2377439"/>
            <a:ext cx="2103120" cy="50292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63040" y="2450591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8736C"/>
                </a:solidFill>
                <a:latin typeface="Arial"/>
              </a:defRPr>
            </a:pPr>
            <a:r>
              <a:t>v0.6 Architecture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2651759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736C"/>
                </a:solidFill>
                <a:latin typeface="Arial"/>
              </a:defRPr>
            </a:pPr>
            <a:r>
              <a:t>APIs + Data 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20440" y="2514599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4CFC7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94760" y="2377439"/>
            <a:ext cx="2103120" cy="50292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86200" y="2450591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8736C"/>
                </a:solidFill>
                <a:latin typeface="Arial"/>
              </a:defRPr>
            </a:pPr>
            <a:r>
              <a:t>v0.7 Execution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86200" y="2651759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736C"/>
                </a:solidFill>
                <a:latin typeface="Arial"/>
              </a:defRPr>
            </a:pPr>
            <a:r>
              <a:t>EPICs + Testing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0" y="2514599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4CFC7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2377439"/>
            <a:ext cx="2103120" cy="50292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2450591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8736C"/>
                </a:solidFill>
                <a:latin typeface="Arial"/>
              </a:defRPr>
            </a:pPr>
            <a:r>
              <a:t>v0.8 Release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2651759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736C"/>
                </a:solidFill>
                <a:latin typeface="Arial"/>
              </a:defRPr>
            </a:pPr>
            <a:r>
              <a:t>Deploy + Ops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017520"/>
            <a:ext cx="822960" cy="502920"/>
          </a:xfrm>
          <a:prstGeom prst="rect">
            <a:avLst/>
          </a:prstGeom>
          <a:solidFill>
            <a:srgbClr val="B84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4048" y="3182112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AF8F5"/>
                </a:solidFill>
                <a:latin typeface="Arial"/>
              </a:defRPr>
            </a:pPr>
            <a:r>
              <a:t>LAUNCH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1600" y="3017520"/>
            <a:ext cx="2103120" cy="50292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463040" y="3090672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8472B"/>
                </a:solidFill>
                <a:latin typeface="Arial"/>
              </a:defRPr>
            </a:pPr>
            <a:r>
              <a:t>v0.9 Go-to-Market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63040" y="3291839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736C"/>
                </a:solidFill>
                <a:latin typeface="Arial"/>
              </a:defRPr>
            </a:pPr>
            <a:r>
              <a:t>GTM + Feedback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20440" y="3154679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4CFC7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794760" y="3017520"/>
            <a:ext cx="2103120" cy="502920"/>
          </a:xfrm>
          <a:prstGeom prst="rect">
            <a:avLst/>
          </a:prstGeom>
          <a:solidFill>
            <a:srgbClr val="B84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86200" y="3090672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AF8F5"/>
                </a:solidFill>
                <a:latin typeface="Arial"/>
              </a:defRPr>
            </a:pPr>
            <a:r>
              <a:t>v1.0 Adoption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886200" y="3291839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rial"/>
              </a:defRPr>
            </a:pPr>
            <a:r>
              <a:t>Revenue + Optimize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86000" y="3931920"/>
            <a:ext cx="4572000" cy="36576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377440" y="400507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8736C"/>
                </a:solidFill>
                <a:latin typeface="Arial"/>
              </a:defRPr>
            </a:pPr>
            <a:r>
              <a:t>← Feedback loops return insights to earlier stages for iteration 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8472B"/>
                </a:solidFill>
                <a:latin typeface="Arial"/>
              </a:defRPr>
            </a:pPr>
            <a:r>
              <a:t>KEY ELEMENT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2C2825"/>
                </a:solidFill>
                <a:latin typeface="Georgia"/>
              </a:defRPr>
            </a:pPr>
            <a:r>
              <a:t>Sources of Truth (SoT)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38100" cy="822960"/>
          </a:xfrm>
          <a:prstGeom prst="rect">
            <a:avLst/>
          </a:prstGeom>
          <a:solidFill>
            <a:srgbClr val="B84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825"/>
                </a:solidFill>
                <a:latin typeface="Arial"/>
              </a:defRPr>
            </a:pPr>
            <a:r>
              <a:t>The SoT library is a knowledge graph of your product, where every decision, rule, and specification has a unique identifier that connects it to everything else.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057400"/>
            <a:ext cx="3474720" cy="100584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4884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8472B"/>
                </a:solidFill>
                <a:latin typeface="Arial"/>
              </a:defRPr>
            </a:pPr>
            <a:r>
              <a:t>WHY IT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774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2825"/>
                </a:solidFill>
                <a:latin typeface="Arial"/>
              </a:defRPr>
            </a:pPr>
            <a:r>
              <a:t>When AI agents work with your product, they can trace any feature back to its business justification, and any bug back to the spec it violates.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0515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8736C"/>
                </a:solidFill>
                <a:latin typeface="Arial"/>
              </a:defRPr>
            </a:pPr>
            <a:r>
              <a:t>THE 11 SOT FILES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1280160"/>
            <a:ext cx="1508760" cy="475488"/>
          </a:xfrm>
          <a:prstGeom prst="rect">
            <a:avLst/>
          </a:prstGeom>
          <a:solidFill>
            <a:srgbClr val="2C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87952" y="1335024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8472B"/>
                </a:solidFill>
                <a:latin typeface="Arial"/>
              </a:defRPr>
            </a:pPr>
            <a:r>
              <a:t>BR-XXX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87952" y="1517904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AF8F5"/>
                </a:solidFill>
                <a:latin typeface="Arial"/>
              </a:defRPr>
            </a:pPr>
            <a:r>
              <a:t>Business Rules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0" y="1280160"/>
            <a:ext cx="1508760" cy="475488"/>
          </a:xfrm>
          <a:prstGeom prst="rect">
            <a:avLst/>
          </a:prstGeom>
          <a:solidFill>
            <a:srgbClr val="2C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88152" y="1335024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8472B"/>
                </a:solidFill>
                <a:latin typeface="Arial"/>
              </a:defRPr>
            </a:pPr>
            <a:r>
              <a:t>CFD-XXX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88152" y="1517904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AF8F5"/>
                </a:solidFill>
                <a:latin typeface="Arial"/>
              </a:defRPr>
            </a:pPr>
            <a:r>
              <a:t>Customer Feedback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1280160"/>
            <a:ext cx="1508760" cy="475488"/>
          </a:xfrm>
          <a:prstGeom prst="rect">
            <a:avLst/>
          </a:prstGeom>
          <a:solidFill>
            <a:srgbClr val="2C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88352" y="1335024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8472B"/>
                </a:solidFill>
                <a:latin typeface="Arial"/>
              </a:defRPr>
            </a:pPr>
            <a:r>
              <a:t>UJ-XXX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88352" y="1517904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AF8F5"/>
                </a:solidFill>
                <a:latin typeface="Arial"/>
              </a:defRPr>
            </a:pPr>
            <a:r>
              <a:t>User Journeys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0" y="1828800"/>
            <a:ext cx="1508760" cy="475488"/>
          </a:xfrm>
          <a:prstGeom prst="rect">
            <a:avLst/>
          </a:prstGeom>
          <a:solidFill>
            <a:srgbClr val="4A4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87952" y="1883664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8472B"/>
                </a:solidFill>
                <a:latin typeface="Arial"/>
              </a:defRPr>
            </a:pPr>
            <a:r>
              <a:t>API-XXX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87952" y="2066543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AF8F5"/>
                </a:solidFill>
                <a:latin typeface="Arial"/>
              </a:defRPr>
            </a:pPr>
            <a:r>
              <a:t>API Contracts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15000" y="1828800"/>
            <a:ext cx="1508760" cy="475488"/>
          </a:xfrm>
          <a:prstGeom prst="rect">
            <a:avLst/>
          </a:prstGeom>
          <a:solidFill>
            <a:srgbClr val="4A4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88152" y="1883664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8472B"/>
                </a:solidFill>
                <a:latin typeface="Arial"/>
              </a:defRPr>
            </a:pPr>
            <a:r>
              <a:t>DBT-XXX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88152" y="2066543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AF8F5"/>
                </a:solidFill>
                <a:latin typeface="Arial"/>
              </a:defRPr>
            </a:pPr>
            <a:r>
              <a:t>Data Model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0" y="1828800"/>
            <a:ext cx="1508760" cy="475488"/>
          </a:xfrm>
          <a:prstGeom prst="rect">
            <a:avLst/>
          </a:prstGeom>
          <a:solidFill>
            <a:srgbClr val="4A4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88352" y="1883664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8472B"/>
                </a:solidFill>
                <a:latin typeface="Arial"/>
              </a:defRPr>
            </a:pPr>
            <a:r>
              <a:t>TEST-XXX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88352" y="2066543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AF8F5"/>
                </a:solidFill>
                <a:latin typeface="Arial"/>
              </a:defRPr>
            </a:pPr>
            <a:r>
              <a:t>Testing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0" y="2377439"/>
            <a:ext cx="1508760" cy="475488"/>
          </a:xfrm>
          <a:prstGeom prst="rect">
            <a:avLst/>
          </a:prstGeom>
          <a:solidFill>
            <a:srgbClr val="787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87952" y="2432303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8472B"/>
                </a:solidFill>
                <a:latin typeface="Arial"/>
              </a:defRPr>
            </a:pPr>
            <a:r>
              <a:t>DES-XXX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87952" y="2615183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AF8F5"/>
                </a:solidFill>
                <a:latin typeface="Arial"/>
              </a:defRPr>
            </a:pPr>
            <a:r>
              <a:t>Design Components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15000" y="2377439"/>
            <a:ext cx="1508760" cy="475488"/>
          </a:xfrm>
          <a:prstGeom prst="rect">
            <a:avLst/>
          </a:prstGeom>
          <a:solidFill>
            <a:srgbClr val="787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88152" y="2432303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8472B"/>
                </a:solidFill>
                <a:latin typeface="Arial"/>
              </a:defRPr>
            </a:pPr>
            <a:r>
              <a:t>TECH-XXX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88152" y="2615183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AF8F5"/>
                </a:solidFill>
                <a:latin typeface="Arial"/>
              </a:defRPr>
            </a:pPr>
            <a:r>
              <a:t>Tech Decisions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0" y="2377439"/>
            <a:ext cx="1508760" cy="475488"/>
          </a:xfrm>
          <a:prstGeom prst="rect">
            <a:avLst/>
          </a:prstGeom>
          <a:solidFill>
            <a:srgbClr val="787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88352" y="2432303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8472B"/>
                </a:solidFill>
                <a:latin typeface="Arial"/>
              </a:defRPr>
            </a:pPr>
            <a:r>
              <a:t>DEP-XXX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88352" y="2615183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AF8F5"/>
                </a:solidFill>
                <a:latin typeface="Arial"/>
              </a:defRPr>
            </a:pPr>
            <a:r>
              <a:t>Deployment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0" y="3017520"/>
            <a:ext cx="4663440" cy="68580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06240" y="3090672"/>
            <a:ext cx="4480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736C"/>
                </a:solidFill>
                <a:latin typeface="Arial"/>
              </a:defRPr>
            </a:pPr>
            <a:r>
              <a:t>EXAMPLE CONNECTION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06240" y="3291840"/>
            <a:ext cx="4480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2825"/>
                </a:solidFill>
                <a:latin typeface="Courier New"/>
              </a:defRPr>
            </a:pPr>
            <a:r>
              <a:t>CFD-012 → BR-005 → API-003 → TEST-017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06240" y="3493008"/>
            <a:ext cx="4480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8736C"/>
                </a:solidFill>
                <a:latin typeface="Arial"/>
              </a:defRPr>
            </a:pPr>
            <a:r>
              <a:t>Customer pain → Business rule → Endpoint → Test case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8472B"/>
                </a:solidFill>
                <a:latin typeface="Arial"/>
              </a:defRPr>
            </a:pPr>
            <a:r>
              <a:t>KEY ELEMENT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2C2825"/>
                </a:solidFill>
                <a:latin typeface="Georgia"/>
              </a:defRPr>
            </a:pPr>
            <a:r>
              <a:t>AI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8736C"/>
                </a:solidFill>
                <a:latin typeface="Arial"/>
              </a:defRPr>
            </a:pPr>
            <a:r>
              <a:t>Four specialized agents form an AI team, each owning specific lifecycle stages with embedded project memory.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2057400" cy="2377440"/>
          </a:xfrm>
          <a:prstGeom prst="rect">
            <a:avLst/>
          </a:prstGeom>
          <a:solidFill>
            <a:srgbClr val="2C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5488" y="1444752"/>
            <a:ext cx="320040" cy="320040"/>
          </a:xfrm>
          <a:prstGeom prst="rect">
            <a:avLst/>
          </a:prstGeom>
          <a:solidFill>
            <a:srgbClr val="B84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48132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AF8F5"/>
                </a:solidFill>
                <a:latin typeface="Arial"/>
              </a:defRPr>
            </a:pPr>
            <a:r>
              <a:t>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463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AF8F5"/>
                </a:solidFill>
                <a:latin typeface="Arial"/>
              </a:defRPr>
            </a:pPr>
            <a:r>
              <a:t>HORIZON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8288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AF8F5"/>
                </a:solidFill>
                <a:latin typeface="Arial"/>
              </a:defRPr>
            </a:pPr>
            <a:r>
              <a:t>STRATEGY LEAD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210312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Arial"/>
              </a:defRPr>
            </a:pPr>
            <a:r>
              <a:t>Market research, problem framing, user journeys, competitive analysis.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3337560"/>
            <a:ext cx="1097280" cy="27432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336499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AAAAA"/>
                </a:solidFill>
                <a:latin typeface="Arial"/>
              </a:defRPr>
            </a:pPr>
            <a:r>
              <a:t>v0.1 → v0.5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0" y="1325880"/>
            <a:ext cx="2057400" cy="2377440"/>
          </a:xfrm>
          <a:prstGeom prst="rect">
            <a:avLst/>
          </a:prstGeom>
          <a:solidFill>
            <a:srgbClr val="4A4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70048" y="1444752"/>
            <a:ext cx="320040" cy="320040"/>
          </a:xfrm>
          <a:prstGeom prst="rect">
            <a:avLst/>
          </a:prstGeom>
          <a:solidFill>
            <a:srgbClr val="B84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70048" y="148132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AF8F5"/>
                </a:solidFill>
                <a:latin typeface="Arial"/>
              </a:defRPr>
            </a:pPr>
            <a:r>
              <a:t>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39" y="1463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AF8F5"/>
                </a:solidFill>
                <a:latin typeface="Arial"/>
              </a:defRPr>
            </a:pPr>
            <a:r>
              <a:t>STUDIO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70048" y="18288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AF8F5"/>
                </a:solidFill>
                <a:latin typeface="Arial"/>
              </a:defRPr>
            </a:pPr>
            <a:r>
              <a:t>DESIGN LEAD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70048" y="210312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Arial"/>
              </a:defRPr>
            </a:pPr>
            <a:r>
              <a:t>User experience, wireframes, design systems, journey validation.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70048" y="3337560"/>
            <a:ext cx="1097280" cy="27432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70048" y="336499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AAAAA"/>
                </a:solidFill>
                <a:latin typeface="Arial"/>
              </a:defRPr>
            </a:pPr>
            <a:r>
              <a:t>v0.3 → v0.6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79" y="1325880"/>
            <a:ext cx="2057400" cy="2377440"/>
          </a:xfrm>
          <a:prstGeom prst="rect">
            <a:avLst/>
          </a:prstGeom>
          <a:solidFill>
            <a:srgbClr val="787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64607" y="1444752"/>
            <a:ext cx="320040" cy="320040"/>
          </a:xfrm>
          <a:prstGeom prst="rect">
            <a:avLst/>
          </a:prstGeom>
          <a:solidFill>
            <a:srgbClr val="B84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64607" y="148132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AF8F5"/>
                </a:solidFill>
                <a:latin typeface="Arial"/>
              </a:defRPr>
            </a:pPr>
            <a:r>
              <a:t>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7799" y="1463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AF8F5"/>
                </a:solidFill>
                <a:latin typeface="Arial"/>
              </a:defRPr>
            </a:pPr>
            <a:r>
              <a:t>WERK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64607" y="18288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AF8F5"/>
                </a:solidFill>
                <a:latin typeface="Arial"/>
              </a:defRPr>
            </a:pPr>
            <a:r>
              <a:t>BUILD LEAD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64607" y="210312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Arial"/>
              </a:defRPr>
            </a:pPr>
            <a:r>
              <a:t>Implementation, testing, deployment, code traceability.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64607" y="3337560"/>
            <a:ext cx="1097280" cy="27432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64607" y="336499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AAAAA"/>
                </a:solidFill>
                <a:latin typeface="Arial"/>
              </a:defRPr>
            </a:pPr>
            <a:r>
              <a:t>v0.6 → v0.8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49440" y="1325880"/>
            <a:ext cx="2057400" cy="2377440"/>
          </a:xfrm>
          <a:prstGeom prst="rect">
            <a:avLst/>
          </a:prstGeom>
          <a:solidFill>
            <a:srgbClr val="B84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059168" y="1444752"/>
            <a:ext cx="320040" cy="320040"/>
          </a:xfrm>
          <a:prstGeom prst="rect">
            <a:avLst/>
          </a:prstGeom>
          <a:solidFill>
            <a:srgbClr val="B84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59168" y="148132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AF8F5"/>
                </a:solidFill>
                <a:latin typeface="Arial"/>
              </a:defRPr>
            </a:pPr>
            <a:r>
              <a:t>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52360" y="1463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AF8F5"/>
                </a:solidFill>
                <a:latin typeface="Arial"/>
              </a:defRPr>
            </a:pPr>
            <a:r>
              <a:t>METRO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59168" y="18288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CCBB"/>
                </a:solidFill>
                <a:latin typeface="Arial"/>
              </a:defRPr>
            </a:pPr>
            <a:r>
              <a:t>OPS LEAD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59168" y="210312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Arial"/>
              </a:defRPr>
            </a:pPr>
            <a:r>
              <a:t>Go-to-market, analytics, feedback loops, optimization.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59168" y="3337560"/>
            <a:ext cx="1097280" cy="274320"/>
          </a:xfrm>
          <a:prstGeom prst="rect">
            <a:avLst/>
          </a:prstGeom>
          <a:solidFill>
            <a:srgbClr val="803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59168" y="336499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AAAAA"/>
                </a:solidFill>
                <a:latin typeface="Arial"/>
              </a:defRPr>
            </a:pPr>
            <a:r>
              <a:t>v0.9 → v1.0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3840480"/>
            <a:ext cx="8412480" cy="41148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3913632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2825"/>
                </a:solidFill>
                <a:latin typeface="Arial"/>
              </a:defRPr>
            </a:pPr>
            <a:r>
              <a:t>Project Memory: Each agent maintains a memory section that persists patterns, decisions, and collaboration notes across sessions.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8472B"/>
                </a:solidFill>
                <a:latin typeface="Arial"/>
              </a:defRPr>
            </a:pPr>
            <a:r>
              <a:t>KEY ELEMENT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2C2825"/>
                </a:solidFill>
                <a:latin typeface="Georgia"/>
              </a:defRPr>
            </a:pPr>
            <a:r>
              <a:t>Skills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38100" cy="731520"/>
          </a:xfrm>
          <a:prstGeom prst="rect">
            <a:avLst/>
          </a:prstGeom>
          <a:solidFill>
            <a:srgbClr val="B84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825"/>
                </a:solidFill>
                <a:latin typeface="Arial"/>
              </a:defRPr>
            </a:pPr>
            <a:r>
              <a:t>Skills are specialized knowledge packages that give AI agents expert-level capability for specific tasks. Think of them as training manuals that activate on demand.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74519"/>
            <a:ext cx="3474720" cy="1051560"/>
          </a:xfrm>
          <a:prstGeom prst="rect">
            <a:avLst/>
          </a:prstGeom>
          <a:solidFill>
            <a:srgbClr val="2C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96596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8472B"/>
                </a:solidFill>
                <a:latin typeface="Arial"/>
              </a:defRPr>
            </a:pPr>
            <a:r>
              <a:t>SKILL ANATOMY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9456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8736C"/>
                </a:solidFill>
                <a:latin typeface="Arial"/>
              </a:defRPr>
            </a:pPr>
            <a:r>
              <a:t>SKILL.md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19456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AF8F5"/>
                </a:solidFill>
                <a:latin typeface="Arial"/>
              </a:defRPr>
            </a:pPr>
            <a:r>
              <a:t>Core instructions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42316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8736C"/>
                </a:solidFill>
                <a:latin typeface="Arial"/>
              </a:defRPr>
            </a:pPr>
            <a:r>
              <a:t>assets/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42316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AF8F5"/>
                </a:solidFill>
                <a:latin typeface="Arial"/>
              </a:defRPr>
            </a:pPr>
            <a:r>
              <a:t>Output templates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65176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8736C"/>
                </a:solidFill>
                <a:latin typeface="Arial"/>
              </a:defRPr>
            </a:pPr>
            <a:r>
              <a:t>references/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65176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AF8F5"/>
                </a:solidFill>
                <a:latin typeface="Arial"/>
              </a:defRPr>
            </a:pPr>
            <a:r>
              <a:t>Examples + prompts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063240"/>
            <a:ext cx="3474720" cy="41148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154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2825"/>
                </a:solidFill>
                <a:latin typeface="Arial"/>
              </a:defRPr>
            </a:pPr>
            <a:r>
              <a:t>24 PRD Skills cover the entire lifecycle, from problem framing to launch metrics.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100584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8736C"/>
                </a:solidFill>
                <a:latin typeface="Arial"/>
              </a:defRPr>
            </a:pPr>
            <a:r>
              <a:t>EXAMPLE SKILLS BY STAGE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0" y="1234440"/>
            <a:ext cx="457200" cy="502920"/>
          </a:xfrm>
          <a:prstGeom prst="rect">
            <a:avLst/>
          </a:prstGeom>
          <a:solidFill>
            <a:srgbClr val="B84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0" y="139903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AF8F5"/>
                </a:solidFill>
                <a:latin typeface="Arial"/>
              </a:defRPr>
            </a:pPr>
            <a:r>
              <a:t>v0.1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3440" y="1234440"/>
            <a:ext cx="4114800" cy="50292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0" y="1289304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2825"/>
                </a:solidFill>
                <a:latin typeface="Arial"/>
              </a:defRPr>
            </a:pPr>
            <a:r>
              <a:t>prd-v01-problem-framing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1490472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736C"/>
                </a:solidFill>
                <a:latin typeface="Arial"/>
              </a:defRPr>
            </a:pPr>
            <a:r>
              <a:t>Transform vague ideas into evidence-anchored problem statements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0" y="1828800"/>
            <a:ext cx="457200" cy="502920"/>
          </a:xfrm>
          <a:prstGeom prst="rect">
            <a:avLst/>
          </a:prstGeom>
          <a:solidFill>
            <a:srgbClr val="4A4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0" y="199339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AF8F5"/>
                </a:solidFill>
                <a:latin typeface="Arial"/>
              </a:defRPr>
            </a:pPr>
            <a:r>
              <a:t>v0.2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63440" y="1828800"/>
            <a:ext cx="4114800" cy="50292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0" y="1883664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2825"/>
                </a:solidFill>
                <a:latin typeface="Arial"/>
              </a:defRPr>
            </a:pPr>
            <a:r>
              <a:t>prd-v02-competitive-landscape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2084832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736C"/>
                </a:solidFill>
                <a:latin typeface="Arial"/>
              </a:defRPr>
            </a:pPr>
            <a:r>
              <a:t>Map alternatives, pricing signals, and positioning gaps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0" y="2423160"/>
            <a:ext cx="457200" cy="502920"/>
          </a:xfrm>
          <a:prstGeom prst="rect">
            <a:avLst/>
          </a:prstGeom>
          <a:solidFill>
            <a:srgbClr val="787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0" y="25877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AF8F5"/>
                </a:solidFill>
                <a:latin typeface="Arial"/>
              </a:defRPr>
            </a:pPr>
            <a:r>
              <a:t>v0.4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63440" y="2423160"/>
            <a:ext cx="4114800" cy="50292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0" y="2478024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2825"/>
                </a:solidFill>
                <a:latin typeface="Arial"/>
              </a:defRPr>
            </a:pPr>
            <a:r>
              <a:t>prd-v04-user-journey-mapping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2679191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736C"/>
                </a:solidFill>
                <a:latin typeface="Arial"/>
              </a:defRPr>
            </a:pPr>
            <a:r>
              <a:t>Map trigger-to-value flows with pain points identified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0" y="3017520"/>
            <a:ext cx="457200" cy="502920"/>
          </a:xfrm>
          <a:prstGeom prst="rect">
            <a:avLst/>
          </a:prstGeom>
          <a:solidFill>
            <a:srgbClr val="2C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0" y="318211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AF8F5"/>
                </a:solidFill>
                <a:latin typeface="Arial"/>
              </a:defRPr>
            </a:pPr>
            <a:r>
              <a:t>v0.7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63440" y="3017520"/>
            <a:ext cx="4114800" cy="50292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54880" y="3072384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2825"/>
                </a:solidFill>
                <a:latin typeface="Arial"/>
              </a:defRPr>
            </a:pPr>
            <a:r>
              <a:t>prd-v07-implementation-loop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0" y="3273552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736C"/>
                </a:solidFill>
                <a:latin typeface="Arial"/>
              </a:defRPr>
            </a:pPr>
            <a:r>
              <a:t>Guide build execution with traceability to specs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0" y="3657600"/>
            <a:ext cx="4663440" cy="41148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06240" y="3749039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2825"/>
                </a:solidFill>
                <a:latin typeface="Arial"/>
              </a:defRPr>
            </a:pPr>
            <a:r>
              <a:t>Auto-Activation: Skills trigger automatically when agents recognize matching contexts, like "frame the problem" or "define KPIs."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8472B"/>
                </a:solidFill>
                <a:latin typeface="Arial"/>
              </a:defRPr>
            </a:pPr>
            <a:r>
              <a:t>KEY ELEMENT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2C2825"/>
                </a:solidFill>
                <a:latin typeface="Georgia"/>
              </a:defRPr>
            </a:pPr>
            <a:r>
              <a:t>Hooks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38100" cy="685800"/>
          </a:xfrm>
          <a:prstGeom prst="rect">
            <a:avLst/>
          </a:prstGeom>
          <a:solidFill>
            <a:srgbClr val="B84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825"/>
                </a:solidFill>
                <a:latin typeface="Arial"/>
              </a:defRPr>
            </a:pPr>
            <a:r>
              <a:t>Hooks are event-triggered automations that run at key moments, ensuring consistency and preventing mistakes without manual intervention.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28800"/>
            <a:ext cx="3200400" cy="1097280"/>
          </a:xfrm>
          <a:prstGeom prst="rect">
            <a:avLst/>
          </a:prstGeom>
          <a:solidFill>
            <a:srgbClr val="2C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920240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8472B"/>
                </a:solidFill>
                <a:latin typeface="Arial"/>
              </a:defRPr>
            </a:pPr>
            <a:r>
              <a:t>TRIGGER POINTS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40279"/>
            <a:ext cx="101600" cy="101600"/>
          </a:xfrm>
          <a:prstGeom prst="rect">
            <a:avLst/>
          </a:prstGeom>
          <a:solidFill>
            <a:srgbClr val="B84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1945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AF8F5"/>
                </a:solidFill>
                <a:latin typeface="Arial"/>
              </a:defRPr>
            </a:pPr>
            <a:r>
              <a:t>Session Start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496311"/>
            <a:ext cx="101600" cy="101600"/>
          </a:xfrm>
          <a:prstGeom prst="rect">
            <a:avLst/>
          </a:prstGeom>
          <a:solidFill>
            <a:srgbClr val="787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450591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AF8F5"/>
                </a:solidFill>
                <a:latin typeface="Arial"/>
              </a:defRPr>
            </a:pPr>
            <a:r>
              <a:t>User Prompt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752344"/>
            <a:ext cx="101600" cy="101600"/>
          </a:xfrm>
          <a:prstGeom prst="rect">
            <a:avLst/>
          </a:prstGeom>
          <a:solidFill>
            <a:srgbClr val="4A4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706624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AF8F5"/>
                </a:solidFill>
                <a:latin typeface="Arial"/>
              </a:defRPr>
            </a:pPr>
            <a:r>
              <a:t>Session Stop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0" y="1005840"/>
            <a:ext cx="4937760" cy="91440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77639" y="1143000"/>
            <a:ext cx="411480" cy="411480"/>
          </a:xfrm>
          <a:prstGeom prst="rect">
            <a:avLst/>
          </a:prstGeom>
          <a:solidFill>
            <a:srgbClr val="B84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77639" y="120700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AF8F5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109728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2825"/>
                </a:solidFill>
                <a:latin typeface="Arial"/>
              </a:defRPr>
            </a:pPr>
            <a:r>
              <a:t>Context 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1325880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8472B"/>
                </a:solidFill>
                <a:latin typeface="Arial"/>
              </a:defRPr>
            </a:pPr>
            <a:r>
              <a:t>Triggers: Session Start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15087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8736C"/>
                </a:solidFill>
                <a:latin typeface="Arial"/>
              </a:defRPr>
            </a:pPr>
            <a:r>
              <a:t>Forces agents to load the 3+1 files before any work begins. Ensures every session starts with full context.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0" y="2011680"/>
            <a:ext cx="4937760" cy="91440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977639" y="2148840"/>
            <a:ext cx="411480" cy="411480"/>
          </a:xfrm>
          <a:prstGeom prst="rect">
            <a:avLst/>
          </a:prstGeom>
          <a:solidFill>
            <a:srgbClr val="4A4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77639" y="221284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AF8F5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210312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2825"/>
                </a:solidFill>
                <a:latin typeface="Arial"/>
              </a:defRPr>
            </a:pPr>
            <a:r>
              <a:t>Context Density Gate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2331720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542"/>
                </a:solidFill>
                <a:latin typeface="Arial"/>
              </a:defRPr>
            </a:pPr>
            <a:r>
              <a:t>Triggers: User Prompt (epic/gate patterns)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25146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8736C"/>
                </a:solidFill>
                <a:latin typeface="Arial"/>
              </a:defRPr>
            </a:pPr>
            <a:r>
              <a:t>Assesses whether the agent has loaded sufficient context before attempting complex work.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0" y="3017520"/>
            <a:ext cx="4937760" cy="91440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977639" y="3154680"/>
            <a:ext cx="411480" cy="411480"/>
          </a:xfrm>
          <a:prstGeom prst="rect">
            <a:avLst/>
          </a:prstGeom>
          <a:solidFill>
            <a:srgbClr val="787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77639" y="321868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AF8F5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310896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2825"/>
                </a:solidFill>
                <a:latin typeface="Arial"/>
              </a:defRPr>
            </a:pPr>
            <a:r>
              <a:t>SoT Update Trigger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80" y="3337560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8736C"/>
                </a:solidFill>
                <a:latin typeface="Arial"/>
              </a:defRPr>
            </a:pPr>
            <a:r>
              <a:t>Triggers: Session Stop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80" y="35204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8736C"/>
                </a:solidFill>
                <a:latin typeface="Arial"/>
              </a:defRPr>
            </a:pPr>
            <a:r>
              <a:t>Reminds agents to update Source of Truth files with any decisions made during the session.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8472B"/>
                </a:solidFill>
                <a:latin typeface="Arial"/>
              </a:defRPr>
            </a:pPr>
            <a:r>
              <a:t>KEY ELEMENT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2C2825"/>
                </a:solidFill>
                <a:latin typeface="Georgia"/>
              </a:defRPr>
            </a:pPr>
            <a:r>
              <a:t>Epic Template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38100" cy="640080"/>
          </a:xfrm>
          <a:prstGeom prst="rect">
            <a:avLst/>
          </a:prstGeom>
          <a:solidFill>
            <a:srgbClr val="B84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825"/>
                </a:solidFill>
                <a:latin typeface="Arial"/>
              </a:defRPr>
            </a:pPr>
            <a:r>
              <a:t>EPICs are the execution unit, breaking large work into focused chunks that can be completed with continuity across sessions.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83080"/>
            <a:ext cx="3200400" cy="777240"/>
          </a:xfrm>
          <a:prstGeom prst="rect">
            <a:avLst/>
          </a:prstGeom>
          <a:solidFill>
            <a:srgbClr val="B84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CCBB"/>
                </a:solidFill>
                <a:latin typeface="Arial"/>
              </a:defRPr>
            </a:pPr>
            <a:r>
              <a:t>THE BRAIN DUMP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031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AF8F5"/>
                </a:solidFill>
                <a:latin typeface="Arial"/>
              </a:defRPr>
            </a:pPr>
            <a:r>
              <a:t>Section 0 captures the exact stopping point, next steps, and open questions, so any agent can resume seamlessly.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697480"/>
            <a:ext cx="3200400" cy="45720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7889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2825"/>
                </a:solidFill>
                <a:latin typeface="Arial"/>
              </a:defRPr>
            </a:pPr>
            <a:r>
              <a:t>Context Windows break build work into focused chunks that fit within a single session.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100584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8736C"/>
                </a:solidFill>
                <a:latin typeface="Arial"/>
              </a:defRPr>
            </a:pPr>
            <a:r>
              <a:t>THE 5-PHASE EXECUTION MODEL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0" y="1280160"/>
            <a:ext cx="960120" cy="1188720"/>
          </a:xfrm>
          <a:prstGeom prst="rect">
            <a:avLst/>
          </a:prstGeom>
          <a:solidFill>
            <a:srgbClr val="2C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13632" y="13716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B8472B"/>
                </a:solidFill>
                <a:latin typeface="Arial"/>
              </a:defRPr>
            </a:pPr>
            <a: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13632" y="169164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AF8F5"/>
                </a:solidFill>
                <a:latin typeface="Arial"/>
              </a:defRPr>
            </a:pPr>
            <a:r>
              <a:t>Plan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13632" y="1920240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DDDDDD"/>
                </a:solidFill>
                <a:latin typeface="Arial"/>
              </a:defRPr>
            </a:pPr>
            <a:r>
              <a:t>Load context, verify dependencies, define strategy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64608" y="1280160"/>
            <a:ext cx="960120" cy="1188720"/>
          </a:xfrm>
          <a:prstGeom prst="rect">
            <a:avLst/>
          </a:prstGeom>
          <a:solidFill>
            <a:srgbClr val="4A4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0" y="13716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CFC7"/>
                </a:solidFill>
                <a:latin typeface="Arial"/>
              </a:defRPr>
            </a:pPr>
            <a: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169164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AF8F5"/>
                </a:solidFill>
                <a:latin typeface="Arial"/>
              </a:defRPr>
            </a:pPr>
            <a:r>
              <a:t>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1920240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DDDDDD"/>
                </a:solidFill>
                <a:latin typeface="Arial"/>
              </a:defRPr>
            </a:pPr>
            <a:r>
              <a:t>Update specs, document architecture, create test entries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88736" y="1280160"/>
            <a:ext cx="960120" cy="1188720"/>
          </a:xfrm>
          <a:prstGeom prst="rect">
            <a:avLst/>
          </a:prstGeom>
          <a:solidFill>
            <a:srgbClr val="787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61888" y="13716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CFC7"/>
                </a:solidFill>
                <a:latin typeface="Arial"/>
              </a:defRPr>
            </a:pPr>
            <a: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61888" y="169164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AF8F5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61888" y="1920240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DDDDDD"/>
                </a:solidFill>
                <a:latin typeface="Arial"/>
              </a:defRPr>
            </a:pPr>
            <a:r>
              <a:t>Execute in context windows with verification gates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12864" y="1280160"/>
            <a:ext cx="960120" cy="1188720"/>
          </a:xfrm>
          <a:prstGeom prst="rect">
            <a:avLst/>
          </a:prstGeom>
          <a:solidFill>
            <a:srgbClr val="787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86016" y="13716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CFC7"/>
                </a:solidFill>
                <a:latin typeface="Arial"/>
              </a:defRPr>
            </a:pPr>
            <a:r>
              <a:t>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86016" y="169164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AF8F5"/>
                </a:solidFill>
                <a:latin typeface="Arial"/>
              </a:defRPr>
            </a:pPr>
            <a:r>
              <a:t>Validate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6016" y="1920240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DDDDDD"/>
                </a:solidFill>
                <a:latin typeface="Arial"/>
              </a:defRPr>
            </a:pPr>
            <a:r>
              <a:t>Run tests, verify flows, check code traceability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36992" y="1280160"/>
            <a:ext cx="960120" cy="1188720"/>
          </a:xfrm>
          <a:prstGeom prst="rect">
            <a:avLst/>
          </a:prstGeom>
          <a:solidFill>
            <a:srgbClr val="B84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10144" y="13716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CCBB"/>
                </a:solidFill>
                <a:latin typeface="Arial"/>
              </a:defRPr>
            </a:pPr>
            <a:r>
              <a:t>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0144" y="169164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AF8F5"/>
                </a:solidFill>
                <a:latin typeface="Arial"/>
              </a:defRPr>
            </a:pPr>
            <a:r>
              <a:t>Finish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10144" y="1920240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DDDDDD"/>
                </a:solidFill>
                <a:latin typeface="Arial"/>
              </a:defRPr>
            </a:pPr>
            <a:r>
              <a:t>Harvest learnings, sync SoT, clean session state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40480" y="2606040"/>
            <a:ext cx="4937760" cy="100584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77639" y="2697480"/>
            <a:ext cx="4663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736C"/>
                </a:solidFill>
                <a:latin typeface="Arial"/>
              </a:defRPr>
            </a:pPr>
            <a:r>
              <a:t>SESSION STATE EXAMPLE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77639" y="2926080"/>
            <a:ext cx="4663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2825"/>
                </a:solidFill>
                <a:latin typeface="Courier New"/>
              </a:defRPr>
            </a:pPr>
            <a:r>
              <a:t>Last Action: Completed API-002 (login endpoint), tests passing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77639" y="3154680"/>
            <a:ext cx="4663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2825"/>
                </a:solidFill>
                <a:latin typeface="Courier New"/>
              </a:defRPr>
            </a:pPr>
            <a:r>
              <a:t>Stopping Point: src/api/auth/login.ts:47 - need rate limiting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77639" y="3383280"/>
            <a:ext cx="4663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2825"/>
                </a:solidFill>
                <a:latin typeface="Courier New"/>
              </a:defRPr>
            </a:pPr>
            <a:r>
              <a:t>Next Steps: 1. Add rate limiter per BR-005 / 2. Update TEST-008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8472B"/>
                </a:solidFill>
                <a:latin typeface="Arial"/>
              </a:defRPr>
            </a:pPr>
            <a:r>
              <a:t>KEY ELEMENT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2C2825"/>
                </a:solidFill>
                <a:latin typeface="Georgia"/>
              </a:defRPr>
            </a:pPr>
            <a:r>
              <a:t>The 3+1 Context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8736C"/>
                </a:solidFill>
                <a:latin typeface="Arial"/>
              </a:defRPr>
            </a:pPr>
            <a:r>
              <a:t>Every session begins by loading four files in sequence. This establishes complete context for any AI agent.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737360" cy="1463040"/>
          </a:xfrm>
          <a:prstGeom prst="rect">
            <a:avLst/>
          </a:prstGeom>
          <a:solidFill>
            <a:srgbClr val="2C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B8472B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2860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AF8F5"/>
                </a:solidFill>
                <a:latin typeface="Arial"/>
              </a:defRPr>
            </a:pPr>
            <a:r>
              <a:t>CLAUDE.md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146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  <a:latin typeface="Arial"/>
              </a:defRPr>
            </a:pPr>
            <a:r>
              <a:t>Agent behavior rules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260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8736C"/>
                </a:solidFill>
                <a:latin typeface="Arial"/>
              </a:defRPr>
            </a:pPr>
            <a:r>
              <a:t>How to work: structural rules and discipline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19202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D4CFC7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06040" y="1371600"/>
            <a:ext cx="1737360" cy="1463040"/>
          </a:xfrm>
          <a:prstGeom prst="rect">
            <a:avLst/>
          </a:prstGeom>
          <a:solidFill>
            <a:srgbClr val="4A4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14630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B8472B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2860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AF8F5"/>
                </a:solidFill>
                <a:latin typeface="Arial"/>
              </a:defRPr>
            </a:pPr>
            <a:r>
              <a:t>README.md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5146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  <a:latin typeface="Arial"/>
              </a:defRPr>
            </a:pPr>
            <a:r>
              <a:t>Project 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29260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8736C"/>
                </a:solidFill>
                <a:latin typeface="Arial"/>
              </a:defRPr>
            </a:pPr>
            <a:r>
              <a:t>Where we are: status and navigation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19202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D4CFC7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1371600"/>
            <a:ext cx="1737360" cy="1463040"/>
          </a:xfrm>
          <a:prstGeom prst="rect">
            <a:avLst/>
          </a:prstGeom>
          <a:solidFill>
            <a:srgbClr val="787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92040" y="14630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B8472B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22860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AF8F5"/>
                </a:solidFill>
                <a:latin typeface="Arial"/>
              </a:defRPr>
            </a:pPr>
            <a:r>
              <a:t>PRD.md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25146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  <a:latin typeface="Arial"/>
              </a:defRPr>
            </a:pPr>
            <a:r>
              <a:t>Product definition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29260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8736C"/>
                </a:solidFill>
                <a:latin typeface="Arial"/>
              </a:defRPr>
            </a:pPr>
            <a:r>
              <a:t>What we're building: strategy and requirements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19202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D4CFC7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03720" y="1371600"/>
            <a:ext cx="1737360" cy="1463040"/>
          </a:xfrm>
          <a:prstGeom prst="rect">
            <a:avLst/>
          </a:prstGeom>
          <a:solidFill>
            <a:srgbClr val="B84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0" y="14630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CCBB"/>
                </a:solidFill>
                <a:latin typeface="Arial"/>
              </a:defRPr>
            </a:pPr>
            <a:r>
              <a:t>+1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22860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AF8F5"/>
                </a:solidFill>
                <a:latin typeface="Arial"/>
              </a:defRPr>
            </a:pPr>
            <a:r>
              <a:t>EPIC-XX.md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25146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  <a:latin typeface="Arial"/>
              </a:defRPr>
            </a:pPr>
            <a:r>
              <a:t>Current work unit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29260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8736C"/>
                </a:solidFill>
                <a:latin typeface="Arial"/>
              </a:defRPr>
            </a:pPr>
            <a:r>
              <a:t>What to do now: active tasks and criteria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749039"/>
            <a:ext cx="8412480" cy="54864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3858768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2825"/>
                </a:solidFill>
                <a:latin typeface="Arial"/>
              </a:defRPr>
            </a:pPr>
            <a:r>
              <a:t>Result: Any AI agent can pick up exactly where the last one left off, with full understanding of the project, its rules, and the immediate task at hand.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C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548640" cy="38100"/>
          </a:xfrm>
          <a:prstGeom prst="rect">
            <a:avLst/>
          </a:prstGeom>
          <a:solidFill>
            <a:srgbClr val="B84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AF8F5"/>
                </a:solidFill>
                <a:latin typeface="Georgia"/>
              </a:defRPr>
            </a:pPr>
            <a:r>
              <a:t>Why It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2651760" cy="2286000"/>
          </a:xfrm>
          <a:prstGeom prst="rect">
            <a:avLst/>
          </a:prstGeom>
          <a:solidFill>
            <a:srgbClr val="383430"/>
          </a:solidFill>
          <a:ln w="12700">
            <a:solidFill>
              <a:srgbClr val="504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457200" cy="457200"/>
          </a:xfrm>
          <a:prstGeom prst="rect">
            <a:avLst/>
          </a:prstGeom>
          <a:solidFill>
            <a:srgbClr val="B84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8988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AF8F5"/>
                </a:solidFill>
                <a:latin typeface="Arial"/>
              </a:defRPr>
            </a:pPr>
            <a:r>
              <a:t>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AF8F5"/>
                </a:solidFill>
                <a:latin typeface="Arial"/>
              </a:defRPr>
            </a:pPr>
            <a:r>
              <a:t>Continuity Across Sessions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Arial"/>
              </a:defRPr>
            </a:pPr>
            <a:r>
              <a:t>AI agents never start from zero. Project memory, session state, and SoT IDs ensure every conversation builds on the last.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143000"/>
            <a:ext cx="2651760" cy="2286000"/>
          </a:xfrm>
          <a:prstGeom prst="rect">
            <a:avLst/>
          </a:prstGeom>
          <a:solidFill>
            <a:srgbClr val="383430"/>
          </a:solidFill>
          <a:ln w="12700">
            <a:solidFill>
              <a:srgbClr val="504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1325880"/>
            <a:ext cx="457200" cy="457200"/>
          </a:xfrm>
          <a:prstGeom prst="rect">
            <a:avLst/>
          </a:prstGeom>
          <a:solidFill>
            <a:srgbClr val="B84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38988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AF8F5"/>
                </a:solidFill>
                <a:latin typeface="Arial"/>
              </a:defRPr>
            </a:pPr>
            <a:r>
              <a:t>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1920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AF8F5"/>
                </a:solidFill>
                <a:latin typeface="Arial"/>
              </a:defRPr>
            </a:pPr>
            <a:r>
              <a:t>Multi-Agent Coordination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3774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Arial"/>
              </a:defRPr>
            </a:pPr>
            <a:r>
              <a:t>Specialized agents hand off cleanly, with shared understanding of rules, decisions, and progress through explicit contracts.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143000"/>
            <a:ext cx="2651760" cy="2286000"/>
          </a:xfrm>
          <a:prstGeom prst="rect">
            <a:avLst/>
          </a:prstGeom>
          <a:solidFill>
            <a:srgbClr val="383430"/>
          </a:solidFill>
          <a:ln w="12700">
            <a:solidFill>
              <a:srgbClr val="504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325880"/>
            <a:ext cx="457200" cy="457200"/>
          </a:xfrm>
          <a:prstGeom prst="rect">
            <a:avLst/>
          </a:prstGeom>
          <a:solidFill>
            <a:srgbClr val="B84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38988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AF8F5"/>
                </a:solidFill>
                <a:latin typeface="Arial"/>
              </a:defRPr>
            </a:pPr>
            <a:r>
              <a:t>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1920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AF8F5"/>
                </a:solidFill>
                <a:latin typeface="Arial"/>
              </a:defRPr>
            </a:pPr>
            <a:r>
              <a:t>Living Documentation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3774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Arial"/>
              </a:defRPr>
            </a:pPr>
            <a:r>
              <a:t>Specs update as the product evolves. The PRD and SoT files are the source of truth, not outdated artifacts.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657600"/>
            <a:ext cx="8229600" cy="777240"/>
          </a:xfrm>
          <a:prstGeom prst="rect">
            <a:avLst/>
          </a:prstGeom>
          <a:solidFill>
            <a:srgbClr val="B84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8404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AF8F5"/>
                </a:solidFill>
                <a:latin typeface="Arial"/>
              </a:defRPr>
            </a:pPr>
            <a:r>
              <a:t>PRD-Led Context Engineering transforms AI from a single-conversation tool into a persistent, collaborative partner that grows smarter with every session.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